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53293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1904184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1 Notes (0:00 - 0:30):</a:t>
            </a:r>
            <a:endParaRPr/>
          </a:p>
          <a:p>
            <a:pPr>
              <a:defRPr/>
            </a:pPr>
            <a:r>
              <a:rPr/>
              <a:t>- Welcome judges and attendees to our Hacktoberfest Round 2 presentation.</a:t>
            </a:r>
            <a:endParaRPr/>
          </a:p>
          <a:p>
            <a:pPr>
              <a:defRPr/>
            </a:pPr>
            <a:r>
              <a:rPr/>
              <a:t>- Introduce Team GrandCoders: Asmit Anand (Lead &amp; Backend), Kartikeya Sorout (Frontend Lead), and Khushhal Kumar Bansal (Full-Stack &amp; DevOps).</a:t>
            </a:r>
            <a:endParaRPr/>
          </a:p>
          <a:p>
            <a:pPr>
              <a:defRPr/>
            </a:pPr>
            <a:r>
              <a:rPr/>
              <a:t>- Introduce Hacktoberfest Copilot: an AI assistant built on Next.js 14, FastAPI, and Gemma 4 that transforms the daunting open-source contribution process into a guided, confident journey.</a:t>
            </a:r>
            <a:endParaRPr/>
          </a:p>
        </p:txBody>
      </p:sp>
      <p:sp>
        <p:nvSpPr>
          <p:cNvPr id="214739891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0366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4338538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2 Notes (0:30 - 1:15):</a:t>
            </a:r>
            <a:endParaRPr/>
          </a:p>
          <a:p>
            <a:pPr>
              <a:defRPr/>
            </a:pPr>
            <a:r>
              <a:rPr/>
              <a:t>- Every year, thousands of students want to contribute to open source during Hacktoberfest.</a:t>
            </a:r>
            <a:endParaRPr/>
          </a:p>
          <a:p>
            <a:pPr>
              <a:defRPr/>
            </a:pPr>
            <a:r>
              <a:rPr/>
              <a:t>- Yet over 75% never submit their first PR because of four distinct barriers: discovery overload, codebase confusion, analysis paralysis, and PR anxiety.</a:t>
            </a:r>
            <a:endParaRPr/>
          </a:p>
          <a:p>
            <a:pPr>
              <a:defRPr/>
            </a:pPr>
            <a:r>
              <a:rPr/>
              <a:t>- Maintainers want contributors, and beginners want to learn. Our motivation is to build the missing technical bridge between discovering an issue and submitting a maintainer-ready fix.</a:t>
            </a:r>
            <a:endParaRPr/>
          </a:p>
        </p:txBody>
      </p:sp>
      <p:sp>
        <p:nvSpPr>
          <p:cNvPr id="40337246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92627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1844604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3 Notes (1:15 - 2:00):</a:t>
            </a:r>
            <a:endParaRPr/>
          </a:p>
          <a:p>
            <a:pPr>
              <a:defRPr/>
            </a:pPr>
            <a:r>
              <a:rPr/>
              <a:t>- Hacktoberfest Copilot solves this with 6 core features.</a:t>
            </a:r>
            <a:endParaRPr/>
          </a:p>
          <a:p>
            <a:pPr>
              <a:defRPr/>
            </a:pPr>
            <a:r>
              <a:rPr/>
              <a:t>- Simply paste any public GitHub repository URL.</a:t>
            </a:r>
            <a:endParaRPr/>
          </a:p>
          <a:p>
            <a:pPr>
              <a:defRPr/>
            </a:pPr>
            <a:r>
              <a:rPr/>
              <a:t>- We triage issues by difficulty, de-jargonize descriptions with Gemma 4, pinpoint exact files to modify, generate a phased implementation roadmap, scaffold unit tests, and provide an interactive PR pre-flight checklist.</a:t>
            </a:r>
            <a:endParaRPr/>
          </a:p>
          <a:p>
            <a:pPr>
              <a:defRPr/>
            </a:pPr>
            <a:r>
              <a:rPr/>
              <a:t>- It gives beginners the exact mentorship they need to create high-quality PRs maintainers actually want to merge.</a:t>
            </a:r>
            <a:endParaRPr/>
          </a:p>
        </p:txBody>
      </p:sp>
      <p:sp>
        <p:nvSpPr>
          <p:cNvPr id="122664705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23337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8726720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4 Notes (2:00 - 2:45):</a:t>
            </a:r>
            <a:endParaRPr/>
          </a:p>
          <a:p>
            <a:pPr>
              <a:defRPr/>
            </a:pPr>
            <a:r>
              <a:rPr/>
              <a:t>- Here is our system architecture. We have a completely decoupled, modern production stack.</a:t>
            </a:r>
            <a:endParaRPr/>
          </a:p>
          <a:p>
            <a:pPr>
              <a:defRPr/>
            </a:pPr>
            <a:r>
              <a:rPr/>
              <a:t>- Next.js 14 frontend communicates via REST with our Python FastAPI backend on Railway.</a:t>
            </a:r>
            <a:endParaRPr/>
          </a:p>
          <a:p>
            <a:pPr>
              <a:defRPr/>
            </a:pPr>
            <a:r>
              <a:rPr/>
              <a:t>- The backend leverages concurrent asyncio.gather calls to the GitHub API, reducing repo analysis latency by 65%.</a:t>
            </a:r>
            <a:endParaRPr/>
          </a:p>
          <a:p>
            <a:pPr>
              <a:defRPr/>
            </a:pPr>
            <a:r>
              <a:rPr/>
              <a:t>- When generating guidance, we ground Gemma 4 with the repository's real file tree and contributing guidelines. This eliminates hallucinations and guarantees accurate file pointers.</a:t>
            </a:r>
            <a:endParaRPr/>
          </a:p>
        </p:txBody>
      </p:sp>
      <p:sp>
        <p:nvSpPr>
          <p:cNvPr id="28436305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9090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3954987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5 Notes (2:45 - 3:30):</a:t>
            </a:r>
            <a:endParaRPr/>
          </a:p>
          <a:p>
            <a:pPr>
              <a:defRPr/>
            </a:pPr>
            <a:r>
              <a:rPr/>
              <a:t>- This flowchart outlines how data moves through Hacktoberfest Copilot from start to finish.</a:t>
            </a:r>
            <a:endParaRPr/>
          </a:p>
          <a:p>
            <a:pPr>
              <a:defRPr/>
            </a:pPr>
            <a:r>
              <a:rPr/>
              <a:t>- From URL input to cache verification, parallel GitHub fetching, issue triage, and Gemma 4 reasoning.</a:t>
            </a:r>
            <a:endParaRPr/>
          </a:p>
          <a:p>
            <a:pPr>
              <a:defRPr/>
            </a:pPr>
            <a:r>
              <a:rPr/>
              <a:t>- Notice the engineering depth: non-blocking worker threadpools, multi-model fallback cascade, and two-tier caching to ensure sub-50 millisecond response times on cached repositories.</a:t>
            </a:r>
            <a:endParaRPr/>
          </a:p>
        </p:txBody>
      </p:sp>
      <p:sp>
        <p:nvSpPr>
          <p:cNvPr id="94824403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48362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971454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6 Notes (3:30 - 4:15):</a:t>
            </a:r>
            <a:endParaRPr/>
          </a:p>
          <a:p>
            <a:pPr>
              <a:defRPr/>
            </a:pPr>
            <a:r>
              <a:rPr/>
              <a:t>- Here is how Hacktoberfest Copilot integrates directly into the standard open-source contribution cycle.</a:t>
            </a:r>
            <a:endParaRPr/>
          </a:p>
          <a:p>
            <a:pPr>
              <a:defRPr/>
            </a:pPr>
            <a:r>
              <a:rPr/>
              <a:t>- From finding an issue, understanding guidelines, forking, branching, implementing changes, testing, and opening the PR.</a:t>
            </a:r>
            <a:endParaRPr/>
          </a:p>
          <a:p>
            <a:pPr>
              <a:defRPr/>
            </a:pPr>
            <a:r>
              <a:rPr/>
              <a:t>- At every stage where a student usually gets stuck or drops out, Copilot provides actionable, confidence-building guidance.</a:t>
            </a:r>
            <a:endParaRPr/>
          </a:p>
        </p:txBody>
      </p:sp>
      <p:sp>
        <p:nvSpPr>
          <p:cNvPr id="68081280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52084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1915410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7 Notes (4:15 - 4:45):</a:t>
            </a:r>
            <a:endParaRPr/>
          </a:p>
          <a:p>
            <a:pPr>
              <a:defRPr/>
            </a:pPr>
            <a:r>
              <a:rPr/>
              <a:t>- We solved three critical engineering challenges: rate limits with 2-tier caching, hallucinations with file tree grounding, and latency with asyncio concurrency.</a:t>
            </a:r>
            <a:endParaRPr/>
          </a:p>
          <a:p>
            <a:pPr>
              <a:defRPr/>
            </a:pPr>
            <a:r>
              <a:rPr/>
              <a:t>- During Round 2, we shipped live cloud deployments, interactive PR checklists, and automated CI pipelines.</a:t>
            </a:r>
            <a:endParaRPr/>
          </a:p>
          <a:p>
            <a:pPr>
              <a:defRPr/>
            </a:pPr>
            <a:r>
              <a:rPr/>
              <a:t>- Our future roadmap includes a GitHub App for maintainers and a VS Code extension for developers.</a:t>
            </a:r>
            <a:endParaRPr/>
          </a:p>
        </p:txBody>
      </p:sp>
      <p:sp>
        <p:nvSpPr>
          <p:cNvPr id="134173635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3791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7061206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Slide 8 Notes (4:45 - 5:00):</a:t>
            </a:r>
            <a:endParaRPr/>
          </a:p>
          <a:p>
            <a:pPr>
              <a:defRPr/>
            </a:pPr>
            <a:r>
              <a:rPr/>
              <a:t>- In summary: Hacktoberfest Copilot solves the pre-coding barrier, grounds Gemma 4 in real repository architecture, and delivers a production-grade experience.</a:t>
            </a:r>
            <a:endParaRPr/>
          </a:p>
          <a:p>
            <a:pPr>
              <a:defRPr/>
            </a:pPr>
            <a:r>
              <a:rPr/>
              <a:t>- We are Team GrandCoders: Asmit, Kartikeya, and Khushhal.</a:t>
            </a:r>
            <a:endParaRPr/>
          </a:p>
          <a:p>
            <a:pPr>
              <a:defRPr/>
            </a:pPr>
            <a:r>
              <a:rPr/>
              <a:t>- Remember: 'Build Together. Innovate Together. Open Source Forever.'</a:t>
            </a:r>
            <a:endParaRPr/>
          </a:p>
          <a:p>
            <a:pPr>
              <a:defRPr/>
            </a:pPr>
            <a:r>
              <a:rPr/>
              <a:t>- Thank you! Let us now transition directly to the live product walkthrough demonstration.</a:t>
            </a:r>
            <a:endParaRPr/>
          </a:p>
        </p:txBody>
      </p:sp>
      <p:sp>
        <p:nvSpPr>
          <p:cNvPr id="90416523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43310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639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14346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325835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2231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1172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33231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89981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9006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9597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38946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12181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08780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39950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57911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59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22160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5308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37066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85350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80587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2336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48006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75265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47316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09010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86866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90880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173065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1050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528785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1414179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62134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87183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54364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57599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90469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201989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863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0711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495372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2760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088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989255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307624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9914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895008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68873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7893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346220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23391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256586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1281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73445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00598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17948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387715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60800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4427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00029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52801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961010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759962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72484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115217" name="Rounded Rectangle 2"/>
          <p:cNvSpPr/>
          <p:nvPr/>
        </p:nvSpPr>
        <p:spPr bwMode="auto">
          <a:xfrm>
            <a:off x="731520" y="594360"/>
            <a:ext cx="5303520" cy="384048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/>
              <a:t>🎃 HACKTOBERFEST 2026 • AI OPEN-SOURCE ASSISTANT</a:t>
            </a:r>
            <a:endParaRPr/>
          </a:p>
        </p:txBody>
      </p:sp>
      <p:sp>
        <p:nvSpPr>
          <p:cNvPr id="1543651031" name="TextBox 3"/>
          <p:cNvSpPr txBox="1"/>
          <p:nvPr/>
        </p:nvSpPr>
        <p:spPr bwMode="auto"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F172A"/>
                </a:solidFill>
                <a:latin typeface="Arial"/>
              </a:defRPr>
            </a:pPr>
            <a:r>
              <a:rPr/>
              <a:t>Hacktoberfest Copilot</a:t>
            </a:r>
            <a:endParaRPr/>
          </a:p>
          <a:p>
            <a:pPr>
              <a:defRPr sz="2200" b="1">
                <a:solidFill>
                  <a:srgbClr val="1D4ED8"/>
                </a:solidFill>
                <a:latin typeface="Arial"/>
              </a:defRPr>
            </a:pPr>
            <a:r>
              <a:rPr/>
              <a:t>AI-Powered Open-Source Contribution Assistant (Powered by Gemma 4)</a:t>
            </a:r>
            <a:endParaRPr/>
          </a:p>
        </p:txBody>
      </p:sp>
      <p:sp>
        <p:nvSpPr>
          <p:cNvPr id="1310650236" name="Rounded Rectangle 4"/>
          <p:cNvSpPr/>
          <p:nvPr/>
        </p:nvSpPr>
        <p:spPr bwMode="auto">
          <a:xfrm>
            <a:off x="731520" y="2926080"/>
            <a:ext cx="1069848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ctr">
              <a:defRPr sz="2000" b="1">
                <a:solidFill>
                  <a:srgbClr val="C2410C"/>
                </a:solidFill>
                <a:latin typeface="Arial"/>
              </a:defRPr>
            </a:pPr>
            <a:r>
              <a:rPr/>
              <a:t>Mission: Turn 'I want to contribute' into 'I have a plan and I'm ready to submit a PR.'</a:t>
            </a:r>
            <a:endParaRPr/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• The Contribution Gap: Over 75% of beginners abandon open-source attempts due to codebase intimidation.</a:t>
            </a:r>
            <a:endParaRPr/>
          </a:p>
          <a:p>
            <a:pPr>
              <a:defRPr sz="1400">
                <a:solidFill>
                  <a:srgbClr val="1E293B"/>
                </a:solidFill>
                <a:latin typeface="Arial"/>
              </a:defRPr>
            </a:pPr>
            <a:r>
              <a:rPr/>
              <a:t>• The Intelligent Mentor: Guides contributors from issue discovery and file mapping to runnable tests and a merged PR.</a:t>
            </a:r>
            <a:endParaRPr/>
          </a:p>
        </p:txBody>
      </p:sp>
      <p:sp>
        <p:nvSpPr>
          <p:cNvPr id="258925361" name="Rounded Rectangle 6"/>
          <p:cNvSpPr/>
          <p:nvPr/>
        </p:nvSpPr>
        <p:spPr bwMode="auto">
          <a:xfrm flipH="0" flipV="0">
            <a:off x="2667928" y="4892039"/>
            <a:ext cx="6404428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rPr/>
              <a:t>Jyoti Prasad</a:t>
            </a:r>
            <a:endParaRPr/>
          </a:p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rPr/>
              <a:t>Full stack</a:t>
            </a:r>
            <a:endParaRPr/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1842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5445994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THE OPEN-SOURCE CHALLENGE</a:t>
            </a:r>
            <a:endParaRPr/>
          </a:p>
        </p:txBody>
      </p:sp>
      <p:sp>
        <p:nvSpPr>
          <p:cNvPr id="946344079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Problem Statement: The 4 Contribution Roadblocks</a:t>
            </a:r>
            <a:endParaRPr/>
          </a:p>
        </p:txBody>
      </p:sp>
      <p:sp>
        <p:nvSpPr>
          <p:cNvPr id="1788078662" name="Rounded Rectangle 4"/>
          <p:cNvSpPr/>
          <p:nvPr/>
        </p:nvSpPr>
        <p:spPr bwMode="auto">
          <a:xfrm>
            <a:off x="731520" y="1600200"/>
            <a:ext cx="2468880" cy="3886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399602" name="Rounded Rectangle 5"/>
          <p:cNvSpPr/>
          <p:nvPr/>
        </p:nvSpPr>
        <p:spPr bwMode="auto">
          <a:xfrm>
            <a:off x="731520" y="1600200"/>
            <a:ext cx="246888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🔍 Discovery Overload</a:t>
            </a:r>
            <a:endParaRPr/>
          </a:p>
        </p:txBody>
      </p:sp>
      <p:sp>
        <p:nvSpPr>
          <p:cNvPr id="1292600002" name="TextBox 6"/>
          <p:cNvSpPr txBox="1"/>
          <p:nvPr/>
        </p:nvSpPr>
        <p:spPr bwMode="auto">
          <a:xfrm>
            <a:off x="731520" y="2103120"/>
            <a:ext cx="2468880" cy="338328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Issue Selection Barrier</a:t>
            </a:r>
            <a:endParaRPr/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br>
              <a:rPr/>
            </a:br>
            <a:r>
              <a:rPr/>
              <a:t>Thousands of open issues with vague labels. Beginners struggle to determine what matches their true skill level and tech stack.</a:t>
            </a:r>
            <a:endParaRPr/>
          </a:p>
        </p:txBody>
      </p:sp>
      <p:sp>
        <p:nvSpPr>
          <p:cNvPr id="1312160524" name="Rounded Rectangle 7"/>
          <p:cNvSpPr/>
          <p:nvPr/>
        </p:nvSpPr>
        <p:spPr bwMode="auto">
          <a:xfrm>
            <a:off x="3474720" y="1600200"/>
            <a:ext cx="2468880" cy="3886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903514" name="Rounded Rectangle 8"/>
          <p:cNvSpPr/>
          <p:nvPr/>
        </p:nvSpPr>
        <p:spPr bwMode="auto">
          <a:xfrm>
            <a:off x="3474720" y="1600200"/>
            <a:ext cx="2468880" cy="5029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🧩 Codebase Confusion</a:t>
            </a:r>
            <a:endParaRPr/>
          </a:p>
        </p:txBody>
      </p:sp>
      <p:sp>
        <p:nvSpPr>
          <p:cNvPr id="880202942" name="TextBox 9"/>
          <p:cNvSpPr txBox="1"/>
          <p:nvPr/>
        </p:nvSpPr>
        <p:spPr bwMode="auto">
          <a:xfrm>
            <a:off x="3474720" y="2103120"/>
            <a:ext cx="2468880" cy="338328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Architectural Intimidation</a:t>
            </a:r>
            <a:endParaRPr/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br>
              <a:rPr/>
            </a:br>
            <a:r>
              <a:rPr/>
              <a:t>Massive unfamiliar codebases with thousands of files, nested directories, and cryptic internal terminology.</a:t>
            </a:r>
            <a:endParaRPr/>
          </a:p>
        </p:txBody>
      </p:sp>
      <p:sp>
        <p:nvSpPr>
          <p:cNvPr id="911962091" name="Rounded Rectangle 10"/>
          <p:cNvSpPr/>
          <p:nvPr/>
        </p:nvSpPr>
        <p:spPr bwMode="auto">
          <a:xfrm>
            <a:off x="6217920" y="1600200"/>
            <a:ext cx="2468880" cy="3886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613182" name="Rounded Rectangle 11"/>
          <p:cNvSpPr/>
          <p:nvPr/>
        </p:nvSpPr>
        <p:spPr bwMode="auto">
          <a:xfrm>
            <a:off x="6217920" y="1600200"/>
            <a:ext cx="2468880" cy="50292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🧱 Analysis Paralysis</a:t>
            </a:r>
            <a:endParaRPr/>
          </a:p>
        </p:txBody>
      </p:sp>
      <p:sp>
        <p:nvSpPr>
          <p:cNvPr id="1777636438" name="TextBox 12"/>
          <p:cNvSpPr txBox="1"/>
          <p:nvPr/>
        </p:nvSpPr>
        <p:spPr bwMode="auto">
          <a:xfrm>
            <a:off x="6217920" y="2103120"/>
            <a:ext cx="2468880" cy="338328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Missing File Mapping</a:t>
            </a:r>
            <a:endParaRPr/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br>
              <a:rPr/>
            </a:br>
            <a:r>
              <a:rPr/>
              <a:t>Knowing what the bug is, but having zero idea which 2 files out of 5,000 need modification or how to approach the fix.</a:t>
            </a:r>
            <a:endParaRPr/>
          </a:p>
        </p:txBody>
      </p:sp>
      <p:sp>
        <p:nvSpPr>
          <p:cNvPr id="230036375" name="Rounded Rectangle 13"/>
          <p:cNvSpPr/>
          <p:nvPr/>
        </p:nvSpPr>
        <p:spPr bwMode="auto">
          <a:xfrm>
            <a:off x="8961120" y="1600200"/>
            <a:ext cx="2468880" cy="3886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6712751" name="Rounded Rectangle 14"/>
          <p:cNvSpPr/>
          <p:nvPr/>
        </p:nvSpPr>
        <p:spPr bwMode="auto">
          <a:xfrm>
            <a:off x="8961120" y="1600200"/>
            <a:ext cx="2468880" cy="50292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📝 PR Anxiety</a:t>
            </a:r>
            <a:endParaRPr/>
          </a:p>
        </p:txBody>
      </p:sp>
      <p:sp>
        <p:nvSpPr>
          <p:cNvPr id="990865901" name="TextBox 15"/>
          <p:cNvSpPr txBox="1"/>
          <p:nvPr/>
        </p:nvSpPr>
        <p:spPr bwMode="auto">
          <a:xfrm>
            <a:off x="8961120" y="2103120"/>
            <a:ext cx="2468880" cy="338328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Quality &amp; Rejection Fear</a:t>
            </a:r>
            <a:endParaRPr/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br>
              <a:rPr/>
            </a:br>
            <a:r>
              <a:rPr/>
              <a:t>Fear of maintainer rejection due to missing unit tests, incorrect git branches, or unformatted PR descriptions.</a:t>
            </a:r>
            <a:endParaRPr/>
          </a:p>
        </p:txBody>
      </p:sp>
      <p:sp>
        <p:nvSpPr>
          <p:cNvPr id="116314676" name="Rounded Rectangle 16"/>
          <p:cNvSpPr/>
          <p:nvPr/>
        </p:nvSpPr>
        <p:spPr bwMode="auto">
          <a:xfrm>
            <a:off x="731520" y="5715000"/>
            <a:ext cx="10698480" cy="6858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45309"/>
                </a:solidFill>
                <a:latin typeface="Arial"/>
              </a:defRPr>
            </a:pPr>
            <a:r>
              <a:rPr/>
              <a:t>💡 Key Motivation: The problem is NOT a lack of issues, but the missing personalized guidance between finding an issue and making the contribution.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4455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8033524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OUR PROPOSED SOLUTION</a:t>
            </a:r>
            <a:endParaRPr/>
          </a:p>
        </p:txBody>
      </p:sp>
      <p:sp>
        <p:nvSpPr>
          <p:cNvPr id="817446488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Proposed Solution: The 6 Core Mentorship Pillars</a:t>
            </a:r>
            <a:endParaRPr/>
          </a:p>
        </p:txBody>
      </p:sp>
      <p:sp>
        <p:nvSpPr>
          <p:cNvPr id="1315405438" name="Rounded Rectangle 4"/>
          <p:cNvSpPr/>
          <p:nvPr/>
        </p:nvSpPr>
        <p:spPr bwMode="auto">
          <a:xfrm>
            <a:off x="731520" y="1600200"/>
            <a:ext cx="338328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715278" name="Rounded Rectangle 5"/>
          <p:cNvSpPr/>
          <p:nvPr/>
        </p:nvSpPr>
        <p:spPr bwMode="auto">
          <a:xfrm>
            <a:off x="731520" y="1600200"/>
            <a:ext cx="338328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🔍 Smart Issue Triage &amp; Difficulty Filters</a:t>
            </a:r>
            <a:endParaRPr/>
          </a:p>
        </p:txBody>
      </p:sp>
      <p:sp>
        <p:nvSpPr>
          <p:cNvPr id="15085178" name="TextBox 6"/>
          <p:cNvSpPr txBox="1"/>
          <p:nvPr/>
        </p:nvSpPr>
        <p:spPr bwMode="auto">
          <a:xfrm>
            <a:off x="731520" y="2103120"/>
            <a:ext cx="3383280" cy="169164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Auto-detects repository languages and tech stack. Analyzes all open issues and categorizes them by difficulty (Beginner, Intermediate, Advanced) and program tags (GSSoC Levels 1/2/3).</a:t>
            </a:r>
            <a:endParaRPr/>
          </a:p>
        </p:txBody>
      </p:sp>
      <p:sp>
        <p:nvSpPr>
          <p:cNvPr id="256891025" name="Rounded Rectangle 7"/>
          <p:cNvSpPr/>
          <p:nvPr/>
        </p:nvSpPr>
        <p:spPr bwMode="auto">
          <a:xfrm>
            <a:off x="4389120" y="1600200"/>
            <a:ext cx="338328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9722213" name="Rounded Rectangle 8"/>
          <p:cNvSpPr/>
          <p:nvPr/>
        </p:nvSpPr>
        <p:spPr bwMode="auto">
          <a:xfrm>
            <a:off x="4389120" y="1600200"/>
            <a:ext cx="3383280" cy="5029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🧠 Plain-English Jargon Buster (Gemma 4)</a:t>
            </a:r>
            <a:endParaRPr/>
          </a:p>
        </p:txBody>
      </p:sp>
      <p:sp>
        <p:nvSpPr>
          <p:cNvPr id="1291168967" name="TextBox 9"/>
          <p:cNvSpPr txBox="1"/>
          <p:nvPr/>
        </p:nvSpPr>
        <p:spPr bwMode="auto">
          <a:xfrm>
            <a:off x="4389120" y="2103120"/>
            <a:ext cx="3383280" cy="169164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Translates dense, cryptic issue descriptions into accessible beginner explanations. Automatically extracts repository-specific jargon and generates a helpful glossary.</a:t>
            </a:r>
            <a:endParaRPr/>
          </a:p>
        </p:txBody>
      </p:sp>
      <p:sp>
        <p:nvSpPr>
          <p:cNvPr id="260088286" name="Rounded Rectangle 10"/>
          <p:cNvSpPr/>
          <p:nvPr/>
        </p:nvSpPr>
        <p:spPr bwMode="auto">
          <a:xfrm>
            <a:off x="8046720" y="1600200"/>
            <a:ext cx="338328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0798798" name="Rounded Rectangle 11"/>
          <p:cNvSpPr/>
          <p:nvPr/>
        </p:nvSpPr>
        <p:spPr bwMode="auto">
          <a:xfrm>
            <a:off x="8046720" y="1600200"/>
            <a:ext cx="3383280" cy="50292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📁 Targeted File &amp; Component Mapping</a:t>
            </a:r>
            <a:endParaRPr/>
          </a:p>
        </p:txBody>
      </p:sp>
      <p:sp>
        <p:nvSpPr>
          <p:cNvPr id="1154122965" name="TextBox 12"/>
          <p:cNvSpPr txBox="1"/>
          <p:nvPr/>
        </p:nvSpPr>
        <p:spPr bwMode="auto">
          <a:xfrm>
            <a:off x="8046720" y="2103120"/>
            <a:ext cx="3383280" cy="169164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Inspects the GitHub file tree to identify precisely which files and components require changes, eliminating analysis paralysis in massive codebases.</a:t>
            </a:r>
            <a:endParaRPr/>
          </a:p>
        </p:txBody>
      </p:sp>
      <p:sp>
        <p:nvSpPr>
          <p:cNvPr id="889691" name="Rounded Rectangle 13"/>
          <p:cNvSpPr/>
          <p:nvPr/>
        </p:nvSpPr>
        <p:spPr bwMode="auto">
          <a:xfrm>
            <a:off x="731520" y="4023360"/>
            <a:ext cx="338328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9517451" name="Rounded Rectangle 14"/>
          <p:cNvSpPr/>
          <p:nvPr/>
        </p:nvSpPr>
        <p:spPr bwMode="auto">
          <a:xfrm>
            <a:off x="731520" y="4023360"/>
            <a:ext cx="3383280" cy="50292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🛠️ Step-by-Step Implementation Roadmap</a:t>
            </a:r>
            <a:endParaRPr/>
          </a:p>
        </p:txBody>
      </p:sp>
      <p:sp>
        <p:nvSpPr>
          <p:cNvPr id="1561463943" name="TextBox 15"/>
          <p:cNvSpPr txBox="1"/>
          <p:nvPr/>
        </p:nvSpPr>
        <p:spPr bwMode="auto">
          <a:xfrm>
            <a:off x="731520" y="4526280"/>
            <a:ext cx="3383280" cy="169164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Generates a structured, chronological blueprint: Environment setup, logic modifications, and verification steps so contributors know exactly what code to write.</a:t>
            </a:r>
            <a:endParaRPr/>
          </a:p>
        </p:txBody>
      </p:sp>
      <p:sp>
        <p:nvSpPr>
          <p:cNvPr id="1351693279" name="Rounded Rectangle 16"/>
          <p:cNvSpPr/>
          <p:nvPr/>
        </p:nvSpPr>
        <p:spPr bwMode="auto">
          <a:xfrm>
            <a:off x="4389120" y="4023360"/>
            <a:ext cx="338328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408805" name="Rounded Rectangle 17"/>
          <p:cNvSpPr/>
          <p:nvPr/>
        </p:nvSpPr>
        <p:spPr bwMode="auto">
          <a:xfrm>
            <a:off x="4389120" y="4023360"/>
            <a:ext cx="338328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🧪 Unit Test Scaffolding &amp; Framework Suggestion</a:t>
            </a:r>
            <a:endParaRPr/>
          </a:p>
        </p:txBody>
      </p:sp>
      <p:sp>
        <p:nvSpPr>
          <p:cNvPr id="837783835" name="TextBox 18"/>
          <p:cNvSpPr txBox="1"/>
          <p:nvPr/>
        </p:nvSpPr>
        <p:spPr bwMode="auto">
          <a:xfrm>
            <a:off x="4389120" y="4526280"/>
            <a:ext cx="3383280" cy="169164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Identifies the project's testing framework (pytest, Jest, Go test) and scaffolds runnable test cases with 1-click clipboard copy.</a:t>
            </a:r>
            <a:endParaRPr/>
          </a:p>
        </p:txBody>
      </p:sp>
      <p:sp>
        <p:nvSpPr>
          <p:cNvPr id="911913446" name="Rounded Rectangle 19"/>
          <p:cNvSpPr/>
          <p:nvPr/>
        </p:nvSpPr>
        <p:spPr bwMode="auto">
          <a:xfrm>
            <a:off x="8046720" y="4023360"/>
            <a:ext cx="338328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3149257" name="Rounded Rectangle 20"/>
          <p:cNvSpPr/>
          <p:nvPr/>
        </p:nvSpPr>
        <p:spPr bwMode="auto">
          <a:xfrm>
            <a:off x="8046720" y="4023360"/>
            <a:ext cx="3383280" cy="5029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📝 PR Generator &amp; Pre-Flight Readiness Checklist</a:t>
            </a:r>
            <a:endParaRPr/>
          </a:p>
        </p:txBody>
      </p:sp>
      <p:sp>
        <p:nvSpPr>
          <p:cNvPr id="1056997358" name="TextBox 21"/>
          <p:cNvSpPr txBox="1"/>
          <p:nvPr/>
        </p:nvSpPr>
        <p:spPr bwMode="auto">
          <a:xfrm>
            <a:off x="8046720" y="4526280"/>
            <a:ext cx="3383280" cy="169164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Drafts a professional markdown PR description. Features an interactive pre-flight checklist modal that calculates a live readiness score before pushing code.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21069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6054411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TECHNICAL ARCHITECTURE</a:t>
            </a:r>
            <a:endParaRPr/>
          </a:p>
        </p:txBody>
      </p:sp>
      <p:sp>
        <p:nvSpPr>
          <p:cNvPr id="84083490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System Architecture: Decoupled &amp; Grounded AI Engine</a:t>
            </a:r>
            <a:endParaRPr/>
          </a:p>
        </p:txBody>
      </p:sp>
      <p:sp>
        <p:nvSpPr>
          <p:cNvPr id="1418560160" name="Rounded Rectangle 4"/>
          <p:cNvSpPr/>
          <p:nvPr/>
        </p:nvSpPr>
        <p:spPr bwMode="auto">
          <a:xfrm>
            <a:off x="731520" y="1600200"/>
            <a:ext cx="320040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0744176" name="Rounded Rectangle 5"/>
          <p:cNvSpPr/>
          <p:nvPr/>
        </p:nvSpPr>
        <p:spPr bwMode="auto">
          <a:xfrm>
            <a:off x="731520" y="1600200"/>
            <a:ext cx="320040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CLIENT PRESENTATION TIER</a:t>
            </a:r>
            <a:endParaRPr/>
          </a:p>
        </p:txBody>
      </p:sp>
      <p:sp>
        <p:nvSpPr>
          <p:cNvPr id="1203316625" name="TextBox 6"/>
          <p:cNvSpPr txBox="1"/>
          <p:nvPr/>
        </p:nvSpPr>
        <p:spPr bwMode="auto">
          <a:xfrm>
            <a:off x="731520" y="2103120"/>
            <a:ext cx="3200400" cy="4160519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Next.js 14 App Router (React 18)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Edge Deployed on Vercel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Dual Theme Engine (Dark/Light)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Keyboard Shortcuts ('/' search)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Client sessionStorage Caching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Interactive PR Checklist Modal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Roadmap Export (.md &amp; PDF)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Zero-latency Static Rendering</a:t>
            </a:r>
            <a:endParaRPr/>
          </a:p>
        </p:txBody>
      </p:sp>
      <p:sp>
        <p:nvSpPr>
          <p:cNvPr id="1038710753" name="Right Arrow 7"/>
          <p:cNvSpPr/>
          <p:nvPr/>
        </p:nvSpPr>
        <p:spPr bwMode="auto">
          <a:xfrm>
            <a:off x="3977639" y="3383280"/>
            <a:ext cx="548640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2755158" name="TextBox 8"/>
          <p:cNvSpPr txBox="1"/>
          <p:nvPr/>
        </p:nvSpPr>
        <p:spPr bwMode="auto">
          <a:xfrm>
            <a:off x="3840480" y="38404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Arial"/>
              </a:defRPr>
            </a:pPr>
            <a:r>
              <a:rPr/>
              <a:t>REST API</a:t>
            </a:r>
            <a:br>
              <a:rPr/>
            </a:br>
            <a:r>
              <a:rPr/>
              <a:t>(JSON)</a:t>
            </a:r>
            <a:endParaRPr/>
          </a:p>
        </p:txBody>
      </p:sp>
      <p:sp>
        <p:nvSpPr>
          <p:cNvPr id="746816273" name="Rounded Rectangle 9"/>
          <p:cNvSpPr/>
          <p:nvPr/>
        </p:nvSpPr>
        <p:spPr bwMode="auto">
          <a:xfrm>
            <a:off x="4572000" y="160020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1376810" name="Rounded Rectangle 10"/>
          <p:cNvSpPr/>
          <p:nvPr/>
        </p:nvSpPr>
        <p:spPr bwMode="auto">
          <a:xfrm>
            <a:off x="4572000" y="1600200"/>
            <a:ext cx="3291840" cy="5029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BACKEND APPLICATION TIER</a:t>
            </a:r>
            <a:endParaRPr/>
          </a:p>
        </p:txBody>
      </p:sp>
      <p:sp>
        <p:nvSpPr>
          <p:cNvPr id="1394886520" name="TextBox 11"/>
          <p:cNvSpPr txBox="1"/>
          <p:nvPr/>
        </p:nvSpPr>
        <p:spPr bwMode="auto">
          <a:xfrm>
            <a:off x="4572000" y="2103120"/>
            <a:ext cx="3291840" cy="4160519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Python FastAPI &amp; Uvicorn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Docker on Railway / Render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In-Memory TTL Cache (1h window)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Parallel asyncio.gather Engine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Worker Threadpool (non-blocking)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Strict Pydantic Data Models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CORS Wildcard Configuration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Auto OpenAPI / Swagger Docs</a:t>
            </a:r>
            <a:endParaRPr/>
          </a:p>
        </p:txBody>
      </p:sp>
      <p:sp>
        <p:nvSpPr>
          <p:cNvPr id="358691172" name="Right Arrow 12"/>
          <p:cNvSpPr/>
          <p:nvPr/>
        </p:nvSpPr>
        <p:spPr bwMode="auto">
          <a:xfrm>
            <a:off x="7909560" y="3383280"/>
            <a:ext cx="548640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009781" name="TextBox 13"/>
          <p:cNvSpPr txBox="1"/>
          <p:nvPr/>
        </p:nvSpPr>
        <p:spPr bwMode="auto">
          <a:xfrm>
            <a:off x="7772400" y="38404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2410C"/>
                </a:solidFill>
                <a:latin typeface="Arial"/>
              </a:defRPr>
            </a:pPr>
            <a:r>
              <a:rPr/>
              <a:t>Grounded</a:t>
            </a:r>
            <a:br>
              <a:rPr/>
            </a:br>
            <a:r>
              <a:rPr/>
              <a:t>Context</a:t>
            </a:r>
            <a:endParaRPr/>
          </a:p>
        </p:txBody>
      </p:sp>
      <p:sp>
        <p:nvSpPr>
          <p:cNvPr id="612374106" name="Rounded Rectangle 14"/>
          <p:cNvSpPr/>
          <p:nvPr/>
        </p:nvSpPr>
        <p:spPr bwMode="auto">
          <a:xfrm>
            <a:off x="8503920" y="1600200"/>
            <a:ext cx="29260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915166" name="Rounded Rectangle 15"/>
          <p:cNvSpPr/>
          <p:nvPr/>
        </p:nvSpPr>
        <p:spPr bwMode="auto">
          <a:xfrm>
            <a:off x="8503920" y="1600200"/>
            <a:ext cx="2926080" cy="50292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EXTERNAL &amp; AI SERVICES</a:t>
            </a:r>
            <a:endParaRPr/>
          </a:p>
        </p:txBody>
      </p:sp>
      <p:sp>
        <p:nvSpPr>
          <p:cNvPr id="293178622" name="TextBox 16"/>
          <p:cNvSpPr txBox="1"/>
          <p:nvPr/>
        </p:nvSpPr>
        <p:spPr bwMode="auto">
          <a:xfrm>
            <a:off x="8503920" y="2103120"/>
            <a:ext cx="2926080" cy="4160519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/>
              <a:t>GitHub REST API v3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• Repository trees &amp; commits</a:t>
            </a:r>
            <a:br>
              <a:rPr/>
            </a:br>
            <a:r>
              <a:rPr/>
              <a:t>• Issues, labels, and guidelines</a:t>
            </a:r>
            <a:br>
              <a:rPr/>
            </a:br>
            <a:r>
              <a:rPr/>
              <a:t>• Auth token support (5k req/hr)</a:t>
            </a:r>
            <a:endParaRPr/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br>
              <a:rPr/>
            </a:br>
            <a:r>
              <a:rPr/>
              <a:t>Google AI Studio (Gemma 4)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• Real File Tree Grounding</a:t>
            </a:r>
            <a:br>
              <a:rPr/>
            </a:br>
            <a:r>
              <a:rPr/>
              <a:t>• Structured JSON Output Schemas</a:t>
            </a:r>
            <a:br>
              <a:rPr/>
            </a:br>
            <a:r>
              <a:rPr/>
              <a:t>• Dynamic Model Discovery</a:t>
            </a:r>
            <a:br>
              <a:rPr/>
            </a:br>
            <a:r>
              <a:rPr/>
              <a:t>• Transparent Gemini Fallback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10408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76770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SYSTEM WORKFLOW</a:t>
            </a:r>
            <a:endParaRPr/>
          </a:p>
        </p:txBody>
      </p:sp>
      <p:sp>
        <p:nvSpPr>
          <p:cNvPr id="1698199969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System Workflow: End-to-End Execution Flowchart</a:t>
            </a:r>
            <a:endParaRPr/>
          </a:p>
        </p:txBody>
      </p:sp>
      <p:sp>
        <p:nvSpPr>
          <p:cNvPr id="514129940" name="Rounded Rectangle 4"/>
          <p:cNvSpPr/>
          <p:nvPr/>
        </p:nvSpPr>
        <p:spPr bwMode="auto">
          <a:xfrm>
            <a:off x="731520" y="1645920"/>
            <a:ext cx="2103120" cy="100584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1. START / INPUT</a:t>
            </a:r>
            <a:br>
              <a:rPr/>
            </a:br>
            <a:r>
              <a:rPr/>
              <a:t>User Enters GitHub URL</a:t>
            </a:r>
            <a:br>
              <a:rPr/>
            </a:br>
            <a:r>
              <a:rPr/>
              <a:t>(e.g., pallets/flask)</a:t>
            </a:r>
            <a:endParaRPr/>
          </a:p>
        </p:txBody>
      </p:sp>
      <p:sp>
        <p:nvSpPr>
          <p:cNvPr id="845718558" name="Right Arrow 5"/>
          <p:cNvSpPr/>
          <p:nvPr/>
        </p:nvSpPr>
        <p:spPr bwMode="auto">
          <a:xfrm>
            <a:off x="2880360" y="201168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5023564" name="Rounded Rectangle 6"/>
          <p:cNvSpPr/>
          <p:nvPr/>
        </p:nvSpPr>
        <p:spPr bwMode="auto">
          <a:xfrm>
            <a:off x="3291840" y="1645920"/>
            <a:ext cx="2286000" cy="10058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2. CACHE CHECK</a:t>
            </a:r>
            <a:br>
              <a:rPr/>
            </a:br>
            <a:r>
              <a:rPr/>
              <a:t>In-Memory TTL Hit?</a:t>
            </a:r>
            <a:br>
              <a:rPr/>
            </a:br>
            <a:r>
              <a:rPr/>
              <a:t>(&lt;50ms vs Network)</a:t>
            </a:r>
            <a:endParaRPr/>
          </a:p>
        </p:txBody>
      </p:sp>
      <p:sp>
        <p:nvSpPr>
          <p:cNvPr id="1633927180" name="Down Arrow 7"/>
          <p:cNvSpPr/>
          <p:nvPr/>
        </p:nvSpPr>
        <p:spPr bwMode="auto">
          <a:xfrm>
            <a:off x="4297680" y="2697480"/>
            <a:ext cx="274320" cy="320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795933" name="Rounded Rectangle 8"/>
          <p:cNvSpPr/>
          <p:nvPr/>
        </p:nvSpPr>
        <p:spPr bwMode="auto">
          <a:xfrm>
            <a:off x="3291840" y="3063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⚡ FAST PATH: Return In-Memory (&lt;50ms)</a:t>
            </a:r>
            <a:endParaRPr/>
          </a:p>
        </p:txBody>
      </p:sp>
      <p:sp>
        <p:nvSpPr>
          <p:cNvPr id="471568889" name="Right Arrow 9"/>
          <p:cNvSpPr/>
          <p:nvPr/>
        </p:nvSpPr>
        <p:spPr bwMode="auto">
          <a:xfrm>
            <a:off x="5623560" y="201168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876001" name="Rounded Rectangle 10"/>
          <p:cNvSpPr/>
          <p:nvPr/>
        </p:nvSpPr>
        <p:spPr bwMode="auto">
          <a:xfrm>
            <a:off x="6035039" y="1645920"/>
            <a:ext cx="2743200" cy="10058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3. CONCURRENT FETCH</a:t>
            </a:r>
            <a:br>
              <a:rPr/>
            </a:br>
            <a:r>
              <a:rPr/>
              <a:t>asyncio.gather: Pulls Repo Tree,</a:t>
            </a:r>
            <a:br>
              <a:rPr/>
            </a:br>
            <a:r>
              <a:rPr/>
              <a:t>Open Issues &amp; Guidelines</a:t>
            </a:r>
            <a:endParaRPr/>
          </a:p>
        </p:txBody>
      </p:sp>
      <p:sp>
        <p:nvSpPr>
          <p:cNvPr id="1664880636" name="Right Arrow 11"/>
          <p:cNvSpPr/>
          <p:nvPr/>
        </p:nvSpPr>
        <p:spPr bwMode="auto">
          <a:xfrm>
            <a:off x="8823960" y="201168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329368" name="Rounded Rectangle 12"/>
          <p:cNvSpPr/>
          <p:nvPr/>
        </p:nvSpPr>
        <p:spPr bwMode="auto">
          <a:xfrm>
            <a:off x="9235440" y="1645920"/>
            <a:ext cx="2194560" cy="100584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4. SMART TRIAGE</a:t>
            </a:r>
            <a:br>
              <a:rPr/>
            </a:br>
            <a:r>
              <a:rPr/>
              <a:t>Filters Beginner &amp; GSSoC;</a:t>
            </a:r>
            <a:br>
              <a:rPr/>
            </a:br>
            <a:r>
              <a:rPr/>
              <a:t>Detects Tech Stack</a:t>
            </a:r>
            <a:endParaRPr/>
          </a:p>
        </p:txBody>
      </p:sp>
      <p:sp>
        <p:nvSpPr>
          <p:cNvPr id="32680529" name="Rounded Rectangle 13"/>
          <p:cNvSpPr/>
          <p:nvPr/>
        </p:nvSpPr>
        <p:spPr bwMode="auto">
          <a:xfrm>
            <a:off x="6400800" y="3063240"/>
            <a:ext cx="5029200" cy="4572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rPr/>
              <a:t>▼ Contributor Selects Issue ➔ Injects Repo File Tree Context</a:t>
            </a:r>
            <a:endParaRPr/>
          </a:p>
        </p:txBody>
      </p:sp>
      <p:sp>
        <p:nvSpPr>
          <p:cNvPr id="2088966062" name="Rounded Rectangle 14"/>
          <p:cNvSpPr/>
          <p:nvPr/>
        </p:nvSpPr>
        <p:spPr bwMode="auto">
          <a:xfrm>
            <a:off x="731520" y="3840480"/>
            <a:ext cx="2103120" cy="100584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5. TREE GROUNDING</a:t>
            </a:r>
            <a:br>
              <a:rPr/>
            </a:br>
            <a:r>
              <a:rPr/>
              <a:t>Extracts verified file list;</a:t>
            </a:r>
            <a:br>
              <a:rPr/>
            </a:br>
            <a:r>
              <a:rPr/>
              <a:t>Constrains system prompt</a:t>
            </a:r>
            <a:endParaRPr/>
          </a:p>
        </p:txBody>
      </p:sp>
      <p:sp>
        <p:nvSpPr>
          <p:cNvPr id="622778731" name="Right Arrow 15"/>
          <p:cNvSpPr/>
          <p:nvPr/>
        </p:nvSpPr>
        <p:spPr bwMode="auto">
          <a:xfrm>
            <a:off x="2880360" y="420624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9476697" name="Rounded Rectangle 16"/>
          <p:cNvSpPr/>
          <p:nvPr/>
        </p:nvSpPr>
        <p:spPr bwMode="auto">
          <a:xfrm>
            <a:off x="3291840" y="3840480"/>
            <a:ext cx="2286000" cy="10058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6. GEMMA 4 INFERENCE</a:t>
            </a:r>
            <a:br>
              <a:rPr/>
            </a:br>
            <a:r>
              <a:rPr/>
              <a:t>Worker threadpool execution</a:t>
            </a:r>
            <a:br>
              <a:rPr/>
            </a:br>
            <a:r>
              <a:rPr/>
              <a:t>(Dynamic model fallback)</a:t>
            </a:r>
            <a:endParaRPr/>
          </a:p>
        </p:txBody>
      </p:sp>
      <p:sp>
        <p:nvSpPr>
          <p:cNvPr id="1902138199" name="Right Arrow 17"/>
          <p:cNvSpPr/>
          <p:nvPr/>
        </p:nvSpPr>
        <p:spPr bwMode="auto">
          <a:xfrm>
            <a:off x="5623560" y="420624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183719" name="Rounded Rectangle 18"/>
          <p:cNvSpPr/>
          <p:nvPr/>
        </p:nvSpPr>
        <p:spPr bwMode="auto">
          <a:xfrm>
            <a:off x="6035039" y="3840480"/>
            <a:ext cx="2743200" cy="100584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7. GUIDANCE HUB OUTPUT</a:t>
            </a:r>
            <a:br>
              <a:rPr/>
            </a:br>
            <a:r>
              <a:rPr/>
              <a:t>Plain-English Plan, Target Files,</a:t>
            </a:r>
            <a:br>
              <a:rPr/>
            </a:br>
            <a:r>
              <a:rPr/>
              <a:t>Unit Tests &amp; 1-Click PR Draft</a:t>
            </a:r>
            <a:endParaRPr/>
          </a:p>
        </p:txBody>
      </p:sp>
      <p:sp>
        <p:nvSpPr>
          <p:cNvPr id="1207981948" name="Right Arrow 19"/>
          <p:cNvSpPr/>
          <p:nvPr/>
        </p:nvSpPr>
        <p:spPr bwMode="auto">
          <a:xfrm>
            <a:off x="8823960" y="420624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7007732" name="Rounded Rectangle 20"/>
          <p:cNvSpPr/>
          <p:nvPr/>
        </p:nvSpPr>
        <p:spPr bwMode="auto">
          <a:xfrm>
            <a:off x="9235440" y="3840480"/>
            <a:ext cx="2194560" cy="10058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8. END / SUBMIT PR</a:t>
            </a:r>
            <a:br>
              <a:rPr/>
            </a:br>
            <a:r>
              <a:rPr/>
              <a:t>PR Checklist: 100% Score</a:t>
            </a:r>
            <a:br>
              <a:rPr/>
            </a:br>
            <a:r>
              <a:rPr/>
              <a:t>Ready for maintainer! 🎃</a:t>
            </a:r>
            <a:endParaRPr/>
          </a:p>
        </p:txBody>
      </p:sp>
      <p:sp>
        <p:nvSpPr>
          <p:cNvPr id="1159486686" name="Rounded Rectangle 21"/>
          <p:cNvSpPr/>
          <p:nvPr/>
        </p:nvSpPr>
        <p:spPr bwMode="auto">
          <a:xfrm>
            <a:off x="731520" y="5166360"/>
            <a:ext cx="10698480" cy="118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rPr/>
              <a:t>Technical Highlights:</a:t>
            </a:r>
            <a:endParaRPr/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rPr/>
              <a:t>• Concurrency: All GitHub calls gathered concurrently via asyncio.gather. AI inference executed in non-blocking worker threadpools.</a:t>
            </a:r>
            <a:br>
              <a:rPr/>
            </a:br>
            <a:r>
              <a:rPr/>
              <a:t>• Resilience: Dynamic model discovery with automatic fallback across gemma-4, gemini-1.5-flash, and gemini-pro.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5553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378521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CONTRIBUTION WORKFLOW</a:t>
            </a:r>
            <a:endParaRPr/>
          </a:p>
        </p:txBody>
      </p:sp>
      <p:sp>
        <p:nvSpPr>
          <p:cNvPr id="833216164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Contribution Lifecycle: 8-Step Hacktoberfest Flowchart</a:t>
            </a:r>
            <a:endParaRPr/>
          </a:p>
        </p:txBody>
      </p:sp>
      <p:sp>
        <p:nvSpPr>
          <p:cNvPr id="1328972009" name="Rounded Rectangle 4"/>
          <p:cNvSpPr/>
          <p:nvPr/>
        </p:nvSpPr>
        <p:spPr bwMode="auto">
          <a:xfrm>
            <a:off x="731520" y="164592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2590477" name="Rounded Rectangle 5"/>
          <p:cNvSpPr/>
          <p:nvPr/>
        </p:nvSpPr>
        <p:spPr bwMode="auto">
          <a:xfrm>
            <a:off x="731520" y="164592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1: Discover</a:t>
            </a:r>
            <a:endParaRPr/>
          </a:p>
        </p:txBody>
      </p:sp>
      <p:sp>
        <p:nvSpPr>
          <p:cNvPr id="1884322791" name="TextBox 6"/>
          <p:cNvSpPr txBox="1"/>
          <p:nvPr/>
        </p:nvSpPr>
        <p:spPr bwMode="auto">
          <a:xfrm>
            <a:off x="731520" y="214884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Find target repo &amp; filter beginner issues in Copilot.</a:t>
            </a:r>
            <a:endParaRPr/>
          </a:p>
        </p:txBody>
      </p:sp>
      <p:sp>
        <p:nvSpPr>
          <p:cNvPr id="981188787" name="Right Arrow 7"/>
          <p:cNvSpPr/>
          <p:nvPr/>
        </p:nvSpPr>
        <p:spPr bwMode="auto">
          <a:xfrm>
            <a:off x="3035808" y="228600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805275" name="Rounded Rectangle 8"/>
          <p:cNvSpPr/>
          <p:nvPr/>
        </p:nvSpPr>
        <p:spPr bwMode="auto">
          <a:xfrm>
            <a:off x="3520440" y="164592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6801677" name="Rounded Rectangle 9"/>
          <p:cNvSpPr/>
          <p:nvPr/>
        </p:nvSpPr>
        <p:spPr bwMode="auto">
          <a:xfrm>
            <a:off x="3520440" y="164592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2: Understand</a:t>
            </a:r>
            <a:endParaRPr/>
          </a:p>
        </p:txBody>
      </p:sp>
      <p:sp>
        <p:nvSpPr>
          <p:cNvPr id="1479679219" name="TextBox 10"/>
          <p:cNvSpPr txBox="1"/>
          <p:nvPr/>
        </p:nvSpPr>
        <p:spPr bwMode="auto">
          <a:xfrm>
            <a:off x="3520440" y="214884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Read Gemma 4 breakdown &amp; jargon glossary.</a:t>
            </a:r>
            <a:endParaRPr/>
          </a:p>
        </p:txBody>
      </p:sp>
      <p:sp>
        <p:nvSpPr>
          <p:cNvPr id="1059027978" name="Right Arrow 11"/>
          <p:cNvSpPr/>
          <p:nvPr/>
        </p:nvSpPr>
        <p:spPr bwMode="auto">
          <a:xfrm>
            <a:off x="5824728" y="228600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981958" name="Rounded Rectangle 12"/>
          <p:cNvSpPr/>
          <p:nvPr/>
        </p:nvSpPr>
        <p:spPr bwMode="auto">
          <a:xfrm>
            <a:off x="6309360" y="164592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5318497" name="Rounded Rectangle 13"/>
          <p:cNvSpPr/>
          <p:nvPr/>
        </p:nvSpPr>
        <p:spPr bwMode="auto">
          <a:xfrm>
            <a:off x="6309360" y="164592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3: Fork &amp; Clone</a:t>
            </a:r>
            <a:endParaRPr/>
          </a:p>
        </p:txBody>
      </p:sp>
      <p:sp>
        <p:nvSpPr>
          <p:cNvPr id="2143480586" name="TextBox 14"/>
          <p:cNvSpPr txBox="1"/>
          <p:nvPr/>
        </p:nvSpPr>
        <p:spPr bwMode="auto">
          <a:xfrm>
            <a:off x="6309360" y="214884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Fork repo on GitHub and clone locally.</a:t>
            </a:r>
            <a:endParaRPr/>
          </a:p>
        </p:txBody>
      </p:sp>
      <p:sp>
        <p:nvSpPr>
          <p:cNvPr id="801127364" name="Right Arrow 15"/>
          <p:cNvSpPr/>
          <p:nvPr/>
        </p:nvSpPr>
        <p:spPr bwMode="auto">
          <a:xfrm>
            <a:off x="8613648" y="228600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477682" name="Rounded Rectangle 16"/>
          <p:cNvSpPr/>
          <p:nvPr/>
        </p:nvSpPr>
        <p:spPr bwMode="auto">
          <a:xfrm>
            <a:off x="9098280" y="164592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7898203" name="Rounded Rectangle 17"/>
          <p:cNvSpPr/>
          <p:nvPr/>
        </p:nvSpPr>
        <p:spPr bwMode="auto">
          <a:xfrm>
            <a:off x="9098280" y="164592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4: Branch</a:t>
            </a:r>
            <a:endParaRPr/>
          </a:p>
        </p:txBody>
      </p:sp>
      <p:sp>
        <p:nvSpPr>
          <p:cNvPr id="1806866883" name="TextBox 18"/>
          <p:cNvSpPr txBox="1"/>
          <p:nvPr/>
        </p:nvSpPr>
        <p:spPr bwMode="auto">
          <a:xfrm>
            <a:off x="9098280" y="214884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Create feature branch: `git checkout -b fix-123`</a:t>
            </a:r>
            <a:endParaRPr/>
          </a:p>
        </p:txBody>
      </p:sp>
      <p:sp>
        <p:nvSpPr>
          <p:cNvPr id="1418906891" name="Down Arrow 19"/>
          <p:cNvSpPr/>
          <p:nvPr/>
        </p:nvSpPr>
        <p:spPr bwMode="auto">
          <a:xfrm>
            <a:off x="9784079" y="3383280"/>
            <a:ext cx="320040" cy="320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998077" name="Rounded Rectangle 20"/>
          <p:cNvSpPr/>
          <p:nvPr/>
        </p:nvSpPr>
        <p:spPr bwMode="auto">
          <a:xfrm>
            <a:off x="731520" y="37947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2458944" name="Rounded Rectangle 21"/>
          <p:cNvSpPr/>
          <p:nvPr/>
        </p:nvSpPr>
        <p:spPr bwMode="auto">
          <a:xfrm>
            <a:off x="731520" y="379476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5: Code Changes</a:t>
            </a:r>
            <a:endParaRPr/>
          </a:p>
        </p:txBody>
      </p:sp>
      <p:sp>
        <p:nvSpPr>
          <p:cNvPr id="1301895208" name="TextBox 22"/>
          <p:cNvSpPr txBox="1"/>
          <p:nvPr/>
        </p:nvSpPr>
        <p:spPr bwMode="auto">
          <a:xfrm>
            <a:off x="731520" y="429768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Follow Copilot's targeted file pointers &amp; roadmap.</a:t>
            </a:r>
            <a:endParaRPr/>
          </a:p>
        </p:txBody>
      </p:sp>
      <p:sp>
        <p:nvSpPr>
          <p:cNvPr id="1557096108" name="Right Arrow 23"/>
          <p:cNvSpPr/>
          <p:nvPr/>
        </p:nvSpPr>
        <p:spPr bwMode="auto">
          <a:xfrm>
            <a:off x="3035808" y="443484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4307252" name="Rounded Rectangle 24"/>
          <p:cNvSpPr/>
          <p:nvPr/>
        </p:nvSpPr>
        <p:spPr bwMode="auto">
          <a:xfrm>
            <a:off x="3520440" y="37947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651426" name="Rounded Rectangle 25"/>
          <p:cNvSpPr/>
          <p:nvPr/>
        </p:nvSpPr>
        <p:spPr bwMode="auto">
          <a:xfrm>
            <a:off x="3520440" y="379476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6: Test &amp; Verify</a:t>
            </a:r>
            <a:endParaRPr/>
          </a:p>
        </p:txBody>
      </p:sp>
      <p:sp>
        <p:nvSpPr>
          <p:cNvPr id="959836161" name="TextBox 26"/>
          <p:cNvSpPr txBox="1"/>
          <p:nvPr/>
        </p:nvSpPr>
        <p:spPr bwMode="auto">
          <a:xfrm>
            <a:off x="3520440" y="429768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Run auto-scaffolded tests with project runner.</a:t>
            </a:r>
            <a:endParaRPr/>
          </a:p>
        </p:txBody>
      </p:sp>
      <p:sp>
        <p:nvSpPr>
          <p:cNvPr id="150144751" name="Right Arrow 27"/>
          <p:cNvSpPr/>
          <p:nvPr/>
        </p:nvSpPr>
        <p:spPr bwMode="auto">
          <a:xfrm>
            <a:off x="5824728" y="443484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7548977" name="Rounded Rectangle 28"/>
          <p:cNvSpPr/>
          <p:nvPr/>
        </p:nvSpPr>
        <p:spPr bwMode="auto">
          <a:xfrm>
            <a:off x="6309360" y="37947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7208084" name="Rounded Rectangle 29"/>
          <p:cNvSpPr/>
          <p:nvPr/>
        </p:nvSpPr>
        <p:spPr bwMode="auto">
          <a:xfrm>
            <a:off x="6309360" y="379476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7: Pre-Flight Check</a:t>
            </a:r>
            <a:endParaRPr/>
          </a:p>
        </p:txBody>
      </p:sp>
      <p:sp>
        <p:nvSpPr>
          <p:cNvPr id="79443593" name="TextBox 30"/>
          <p:cNvSpPr txBox="1"/>
          <p:nvPr/>
        </p:nvSpPr>
        <p:spPr bwMode="auto">
          <a:xfrm>
            <a:off x="6309360" y="429768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Complete PR checklist: live readiness hits 100%.</a:t>
            </a:r>
            <a:endParaRPr/>
          </a:p>
        </p:txBody>
      </p:sp>
      <p:sp>
        <p:nvSpPr>
          <p:cNvPr id="780535682" name="Right Arrow 31"/>
          <p:cNvSpPr/>
          <p:nvPr/>
        </p:nvSpPr>
        <p:spPr bwMode="auto">
          <a:xfrm>
            <a:off x="8613648" y="4434840"/>
            <a:ext cx="36576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517697" name="Rounded Rectangle 32"/>
          <p:cNvSpPr/>
          <p:nvPr/>
        </p:nvSpPr>
        <p:spPr bwMode="auto">
          <a:xfrm>
            <a:off x="9098280" y="37947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097726" name="Rounded Rectangle 33"/>
          <p:cNvSpPr/>
          <p:nvPr/>
        </p:nvSpPr>
        <p:spPr bwMode="auto">
          <a:xfrm>
            <a:off x="9098280" y="3794760"/>
            <a:ext cx="2194560" cy="50292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Step 8: Open PR &amp; Merge</a:t>
            </a:r>
            <a:endParaRPr/>
          </a:p>
        </p:txBody>
      </p:sp>
      <p:sp>
        <p:nvSpPr>
          <p:cNvPr id="227513288" name="TextBox 34"/>
          <p:cNvSpPr txBox="1"/>
          <p:nvPr/>
        </p:nvSpPr>
        <p:spPr bwMode="auto">
          <a:xfrm>
            <a:off x="9098280" y="4297680"/>
            <a:ext cx="2194560" cy="1143000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1-click copy PR description and submit PR! 🎃</a:t>
            </a:r>
            <a:endParaRPr/>
          </a:p>
        </p:txBody>
      </p:sp>
      <p:sp>
        <p:nvSpPr>
          <p:cNvPr id="1998133979" name="Rounded Rectangle 35"/>
          <p:cNvSpPr/>
          <p:nvPr/>
        </p:nvSpPr>
        <p:spPr bwMode="auto">
          <a:xfrm>
            <a:off x="731520" y="5715000"/>
            <a:ext cx="10698480" cy="6858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rPr/>
              <a:t>🤝 Hacktoberfest Quality Standards: Zero Spam • Automated Tests Passing • Descriptive PR Documentation • Maintainer-Approved Code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85950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4429471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IMPACT &amp; FUTURE SCOPE</a:t>
            </a:r>
            <a:endParaRPr/>
          </a:p>
        </p:txBody>
      </p:sp>
      <p:sp>
        <p:nvSpPr>
          <p:cNvPr id="1416729067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Demonstrated Impact, Challenges &amp; Future Roadmap</a:t>
            </a:r>
            <a:endParaRPr/>
          </a:p>
        </p:txBody>
      </p:sp>
      <p:sp>
        <p:nvSpPr>
          <p:cNvPr id="301200614" name="Rounded Rectangle 4"/>
          <p:cNvSpPr/>
          <p:nvPr/>
        </p:nvSpPr>
        <p:spPr bwMode="auto">
          <a:xfrm>
            <a:off x="731520" y="1600200"/>
            <a:ext cx="52120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9301089" name="Rounded Rectangle 5"/>
          <p:cNvSpPr/>
          <p:nvPr/>
        </p:nvSpPr>
        <p:spPr bwMode="auto">
          <a:xfrm>
            <a:off x="731520" y="1600200"/>
            <a:ext cx="521208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IMPACT &amp; CHALLENGES OVERCOME</a:t>
            </a:r>
            <a:endParaRPr/>
          </a:p>
        </p:txBody>
      </p:sp>
      <p:sp>
        <p:nvSpPr>
          <p:cNvPr id="2040726081" name="TextBox 6"/>
          <p:cNvSpPr txBox="1"/>
          <p:nvPr/>
        </p:nvSpPr>
        <p:spPr bwMode="auto">
          <a:xfrm>
            <a:off x="731520" y="2103120"/>
            <a:ext cx="5212080" cy="4160519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/>
              <a:t>Community Impact:</a:t>
            </a:r>
            <a:endParaRPr/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rPr/>
              <a:t>• Reduces newcomer drop-off by turning high-friction issues into structured, accessible learning paths.</a:t>
            </a:r>
            <a:br>
              <a:rPr/>
            </a:br>
            <a:r>
              <a:rPr/>
              <a:t>• Saves maintainers hundreds of hours answering repetitive beginner questions.</a:t>
            </a:r>
            <a:endParaRPr/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br>
              <a:rPr/>
            </a:br>
            <a:r>
              <a:rPr/>
              <a:t>Engineering Challenges Overcome: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• Rate Limits (60 req/hr): Solved by 2-tier TTL caching (1-hour window) and token injection (5,000 req/hr).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• LLM Hallucinations: Constrained Gemma 4 system prompt strictly to verified GitHub repository tree files.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• Upstream Latency: Parallelized via asyncio.gather and non-blocking worker threadpool execution.</a:t>
            </a:r>
            <a:endParaRPr/>
          </a:p>
        </p:txBody>
      </p:sp>
      <p:sp>
        <p:nvSpPr>
          <p:cNvPr id="1453344414" name="Rounded Rectangle 7"/>
          <p:cNvSpPr/>
          <p:nvPr/>
        </p:nvSpPr>
        <p:spPr bwMode="auto">
          <a:xfrm>
            <a:off x="6217920" y="1600200"/>
            <a:ext cx="5212080" cy="466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9461424" name="Rounded Rectangle 8"/>
          <p:cNvSpPr/>
          <p:nvPr/>
        </p:nvSpPr>
        <p:spPr bwMode="auto">
          <a:xfrm>
            <a:off x="6217920" y="1600200"/>
            <a:ext cx="5212080" cy="50292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/>
              <a:t>ROADMAP: SHIPPED VS PLANNED</a:t>
            </a:r>
            <a:endParaRPr/>
          </a:p>
        </p:txBody>
      </p:sp>
      <p:sp>
        <p:nvSpPr>
          <p:cNvPr id="2097290647" name="TextBox 9"/>
          <p:cNvSpPr txBox="1"/>
          <p:nvPr/>
        </p:nvSpPr>
        <p:spPr bwMode="auto">
          <a:xfrm>
            <a:off x="6217920" y="2103120"/>
            <a:ext cx="5212080" cy="4160519"/>
          </a:xfrm>
          <a:prstGeom prst="rect">
            <a:avLst/>
          </a:prstGeom>
          <a:noFill/>
        </p:spPr>
        <p:txBody>
          <a:bodyPr wrap="square" lIns="182880" tIns="137160" rIns="182880">
            <a:spAutoFit/>
          </a:bodyPr>
          <a:lstStyle/>
          <a:p>
            <a:pPr>
              <a:defRPr sz="1400" b="1">
                <a:solidFill>
                  <a:srgbClr val="047857"/>
                </a:solidFill>
                <a:latin typeface="Arial"/>
              </a:defRPr>
            </a:pPr>
            <a:r>
              <a:rPr/>
              <a:t>✅ Completed in Round 2 (Shipped &amp; Active):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✓ Live Production Cloud Deployment (Railway + Vercel)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✓ Dynamic Model Discovery &amp; Threadpool Concurrency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✓ Interactive PR Checklist Modal with Live Readiness Score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✓ Roadmap Export (.md &amp; printable PDF)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✓ Automated CI/CD Pipeline (Flake8, Pytest, Next.js Build)</a:t>
            </a:r>
            <a:endParaRPr/>
          </a:p>
          <a:p>
            <a:pPr>
              <a:defRPr sz="1400" b="1">
                <a:solidFill>
                  <a:srgbClr val="C2410C"/>
                </a:solidFill>
                <a:latin typeface="Arial"/>
              </a:defRPr>
            </a:pPr>
            <a:br>
              <a:rPr/>
            </a:br>
            <a:r>
              <a:rPr/>
              <a:t>🔮 Planned Future Scope (Post-Hackathon):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• GitHub App / Bot: Auto-mentors contributors directly in issue comments.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• VS Code &amp; Cursor Extension: Brings file tree guidance into developer IDEs.</a:t>
            </a:r>
            <a:endParaRPr/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rPr/>
              <a:t>  • Maintainer Dashboards: Analytics on beginner issue resolution rates.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8299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1694907" name="Rounded Rectangle 2"/>
          <p:cNvSpPr/>
          <p:nvPr/>
        </p:nvSpPr>
        <p:spPr bwMode="auto">
          <a:xfrm>
            <a:off x="731520" y="320040"/>
            <a:ext cx="4389120" cy="32004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★ CONCLUSION &amp; CALL TO ACTION</a:t>
            </a:r>
            <a:endParaRPr/>
          </a:p>
        </p:txBody>
      </p:sp>
      <p:sp>
        <p:nvSpPr>
          <p:cNvPr id="2033017925" name="TextBox 3"/>
          <p:cNvSpPr txBox="1"/>
          <p:nvPr/>
        </p:nvSpPr>
        <p:spPr bwMode="auto"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/>
              <a:t>Conclusion: Empowering the Next Generation of Builders</a:t>
            </a:r>
            <a:endParaRPr/>
          </a:p>
        </p:txBody>
      </p:sp>
      <p:sp>
        <p:nvSpPr>
          <p:cNvPr id="2014018335" name="Rounded Rectangle 7"/>
          <p:cNvSpPr/>
          <p:nvPr/>
        </p:nvSpPr>
        <p:spPr bwMode="auto">
          <a:xfrm>
            <a:off x="795019" y="2047965"/>
            <a:ext cx="1069848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182880" rtlCol="0" anchor="ctr"/>
          <a:lstStyle/>
          <a:p>
            <a:pPr algn="ctr">
              <a:defRPr sz="1600" b="1">
                <a:solidFill>
                  <a:srgbClr val="1D4ED8"/>
                </a:solidFill>
                <a:latin typeface="Arial"/>
              </a:defRPr>
            </a:pPr>
            <a:r>
              <a:rPr/>
              <a:t>Key Project Takeaways:</a:t>
            </a:r>
            <a:endParaRPr/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/>
              <a:t>1. Solves the Pre-Coding Barrier: Guides contributors from issue discovery to maintainer-ready PR.</a:t>
            </a:r>
            <a:endParaRPr/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/>
              <a:t>2. Grounded AI Reasoning: Constrains Gemma 4 to verified repository file trees, eliminating hallucinations.</a:t>
            </a:r>
            <a:endParaRPr/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/>
              <a:t>3. Production-Ready &amp; Deployed: High-performance caching, resilient fallbacks, and active CI/CD.</a:t>
            </a:r>
            <a:endParaRPr/>
          </a:p>
        </p:txBody>
      </p:sp>
      <p:sp>
        <p:nvSpPr>
          <p:cNvPr id="133699108" name="Rounded Rectangle 8"/>
          <p:cNvSpPr/>
          <p:nvPr/>
        </p:nvSpPr>
        <p:spPr bwMode="auto">
          <a:xfrm>
            <a:off x="746607" y="4557122"/>
            <a:ext cx="10698480" cy="137160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rPr/>
              <a:t>“Build Together. Innovate Together. Open Source Forever.”</a:t>
            </a:r>
            <a:endParaRPr/>
          </a:p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endParaRPr sz="1200"/>
          </a:p>
          <a:p>
            <a:pPr algn="ctr">
              <a:defRPr sz="1400" b="1">
                <a:solidFill>
                  <a:srgbClr val="FEF08A"/>
                </a:solidFill>
                <a:latin typeface="Arial"/>
              </a:defRPr>
            </a:pPr>
            <a:r>
              <a:rPr/>
              <a:t>🎬 Let's see Hacktoberfest Copilot in action — Over to the live demonstration!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2026-10-22T11:24:53Z</dcterms:modified>
  <cp:category/>
</cp:coreProperties>
</file>